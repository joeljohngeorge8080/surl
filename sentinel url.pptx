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69" r:id="rId2"/>
    <p:sldId id="272" r:id="rId3"/>
    <p:sldId id="274" r:id="rId4"/>
    <p:sldId id="275" r:id="rId5"/>
    <p:sldId id="278" r:id="rId6"/>
    <p:sldId id="276" r:id="rId7"/>
    <p:sldId id="259" r:id="rId8"/>
    <p:sldId id="261" r:id="rId9"/>
    <p:sldId id="262" r:id="rId10"/>
    <p:sldId id="279" r:id="rId11"/>
    <p:sldId id="266" r:id="rId12"/>
    <p:sldId id="268"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AF5335-5052-E38E-C3C6-86358B592607}" v="33" dt="2026-01-10T15:39:40.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380" y="5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d137d69417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d137d69417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d137d69417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d137d69417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d137d69417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d137d69417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d137d69417_1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d137d69417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d137d69417_1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d137d69417_1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169" y="1356090"/>
            <a:ext cx="8719661" cy="857250"/>
          </a:xfrm>
        </p:spPr>
        <p:txBody>
          <a:bodyPr anchor="ctr" anchorCtr="0">
            <a:normAutofit/>
          </a:bodyPr>
          <a:lstStyle/>
          <a:p>
            <a:pPr algn="ctr"/>
            <a:r>
              <a:rPr lang="en-GB" altLang="en-IN" sz="2100" b="1" dirty="0">
                <a:latin typeface="Times New Roman" panose="02020603050405020304" charset="0"/>
                <a:cs typeface="Times New Roman" panose="02020603050405020304" charset="0"/>
              </a:rPr>
              <a:t>SENTINEL URL</a:t>
            </a:r>
            <a:endParaRPr lang="en-US" altLang="en-IN" sz="2100" b="1" dirty="0">
              <a:latin typeface="Times New Roman" panose="02020603050405020304" charset="0"/>
              <a:cs typeface="Times New Roman" panose="02020603050405020304" charset="0"/>
            </a:endParaRPr>
          </a:p>
        </p:txBody>
      </p:sp>
      <p:sp>
        <p:nvSpPr>
          <p:cNvPr id="4" name="Text Box 3"/>
          <p:cNvSpPr txBox="1"/>
          <p:nvPr/>
        </p:nvSpPr>
        <p:spPr>
          <a:xfrm>
            <a:off x="465771" y="651406"/>
            <a:ext cx="8212455" cy="415498"/>
          </a:xfrm>
          <a:prstGeom prst="rect">
            <a:avLst/>
          </a:prstGeom>
          <a:noFill/>
        </p:spPr>
        <p:txBody>
          <a:bodyPr wrap="square" lIns="91440" tIns="45720" rIns="91440" bIns="45720" rtlCol="0" anchor="t">
            <a:spAutoFit/>
          </a:bodyPr>
          <a:lstStyle/>
          <a:p>
            <a:pPr algn="ctr"/>
            <a:r>
              <a:rPr lang="en-US" sz="2100" b="1" dirty="0">
                <a:latin typeface="Times New Roman" panose="02020603050405020304" charset="0"/>
                <a:cs typeface="Times New Roman" panose="02020603050405020304" charset="0"/>
              </a:rPr>
              <a:t>CSD 334-MINI PROJECT</a:t>
            </a:r>
            <a:endParaRPr lang="en-US"/>
          </a:p>
        </p:txBody>
      </p:sp>
      <p:sp>
        <p:nvSpPr>
          <p:cNvPr id="7" name="Text Box 6"/>
          <p:cNvSpPr txBox="1"/>
          <p:nvPr/>
        </p:nvSpPr>
        <p:spPr>
          <a:xfrm>
            <a:off x="305276" y="3029903"/>
            <a:ext cx="3327083" cy="1131079"/>
          </a:xfrm>
          <a:prstGeom prst="rect">
            <a:avLst/>
          </a:prstGeom>
          <a:noFill/>
        </p:spPr>
        <p:txBody>
          <a:bodyPr wrap="square" lIns="91440" tIns="45720" rIns="91440" bIns="45720" rtlCol="0" anchor="t">
            <a:spAutoFit/>
          </a:bodyPr>
          <a:lstStyle/>
          <a:p>
            <a:r>
              <a:rPr lang="en-US" sz="1500" dirty="0">
                <a:latin typeface="Times New Roman" panose="02020603050405020304" charset="0"/>
                <a:cs typeface="Times New Roman" panose="02020603050405020304" charset="0"/>
              </a:rPr>
              <a:t>GUIDED BY:</a:t>
            </a:r>
          </a:p>
          <a:p>
            <a:endParaRPr lang="en-US" sz="1050" dirty="0">
              <a:latin typeface="Times New Roman" panose="02020603050405020304" charset="0"/>
              <a:cs typeface="Times New Roman" panose="02020603050405020304" charset="0"/>
            </a:endParaRPr>
          </a:p>
          <a:p>
            <a:r>
              <a:rPr lang="en-US" sz="1050">
                <a:latin typeface="Times New Roman"/>
                <a:cs typeface="Times New Roman"/>
              </a:rPr>
              <a:t>PROF. JOSMY GEORGE</a:t>
            </a:r>
          </a:p>
          <a:p>
            <a:r>
              <a:rPr lang="en-US" sz="1050">
                <a:latin typeface="Times New Roman"/>
                <a:cs typeface="Times New Roman"/>
              </a:rPr>
              <a:t>ASSOCIATE PROFESSOR</a:t>
            </a:r>
          </a:p>
          <a:p>
            <a:r>
              <a:rPr lang="en-US" sz="1050" dirty="0">
                <a:latin typeface="Times New Roman" panose="02020603050405020304" charset="0"/>
                <a:cs typeface="Times New Roman" panose="02020603050405020304" charset="0"/>
              </a:rPr>
              <a:t>DEPARTMENT OF COMPUTER SCIENCE AND ENGINEERING</a:t>
            </a:r>
          </a:p>
        </p:txBody>
      </p:sp>
      <p:sp>
        <p:nvSpPr>
          <p:cNvPr id="8" name="Text Box 7"/>
          <p:cNvSpPr txBox="1"/>
          <p:nvPr/>
        </p:nvSpPr>
        <p:spPr>
          <a:xfrm>
            <a:off x="5366820" y="3029903"/>
            <a:ext cx="3077528" cy="1200329"/>
          </a:xfrm>
          <a:prstGeom prst="rect">
            <a:avLst/>
          </a:prstGeom>
          <a:noFill/>
        </p:spPr>
        <p:txBody>
          <a:bodyPr wrap="square" rtlCol="0">
            <a:spAutoFit/>
          </a:bodyPr>
          <a:lstStyle/>
          <a:p>
            <a:r>
              <a:rPr lang="en-US" sz="1500" dirty="0">
                <a:latin typeface="Times New Roman" panose="02020603050405020304" charset="0"/>
                <a:cs typeface="Times New Roman" panose="02020603050405020304" charset="0"/>
              </a:rPr>
              <a:t>PREPARED BY:</a:t>
            </a:r>
          </a:p>
          <a:p>
            <a:endParaRPr lang="en-US" sz="1500" dirty="0">
              <a:latin typeface="Times New Roman" panose="02020603050405020304" charset="0"/>
              <a:cs typeface="Times New Roman" panose="02020603050405020304" charset="0"/>
            </a:endParaRPr>
          </a:p>
          <a:p>
            <a:r>
              <a:rPr lang="en-US" sz="1050" dirty="0">
                <a:latin typeface="Times New Roman" panose="02020603050405020304" charset="0"/>
                <a:cs typeface="Times New Roman" panose="02020603050405020304" charset="0"/>
              </a:rPr>
              <a:t>JOEL JOHN GEORGE</a:t>
            </a:r>
          </a:p>
          <a:p>
            <a:r>
              <a:rPr lang="en-US" sz="1050" dirty="0">
                <a:latin typeface="Times New Roman" panose="02020603050405020304" charset="0"/>
                <a:cs typeface="Times New Roman" panose="02020603050405020304" charset="0"/>
              </a:rPr>
              <a:t>JISHNU SHAJI</a:t>
            </a:r>
          </a:p>
          <a:p>
            <a:r>
              <a:rPr lang="en-US" sz="1050" dirty="0">
                <a:latin typeface="Times New Roman" panose="02020603050405020304" charset="0"/>
                <a:cs typeface="Times New Roman" panose="02020603050405020304" charset="0"/>
              </a:rPr>
              <a:t>MATHEW VARGHESE</a:t>
            </a:r>
          </a:p>
          <a:p>
            <a:r>
              <a:rPr lang="en-US" sz="1050" dirty="0">
                <a:latin typeface="Times New Roman" panose="02020603050405020304" charset="0"/>
                <a:cs typeface="Times New Roman" panose="02020603050405020304" charset="0"/>
              </a:rPr>
              <a:t>KEVIN B VAROOR</a:t>
            </a:r>
          </a:p>
        </p:txBody>
      </p:sp>
    </p:spTree>
  </p:cSld>
  <p:clrMapOvr>
    <a:masterClrMapping/>
  </p:clrMapOvr>
  <mc:AlternateContent xmlns:mc="http://schemas.openxmlformats.org/markup-compatibility/2006" xmlns:p14="http://schemas.microsoft.com/office/powerpoint/2010/main">
    <mc:Choice Requires="p14">
      <p:transition spd="slow" p14:dur="1250">
        <p:pull/>
      </p:transition>
    </mc:Choice>
    <mc:Fallback xmlns="">
      <p:transition spd="slow">
        <p:pull/>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background with white dots&#10;&#10;AI-generated content may be incorrect.">
            <a:extLst>
              <a:ext uri="{FF2B5EF4-FFF2-40B4-BE49-F238E27FC236}">
                <a16:creationId xmlns:a16="http://schemas.microsoft.com/office/drawing/2014/main" id="{35DF49BA-1D37-8C9A-025B-978CFC901282}"/>
              </a:ext>
            </a:extLst>
          </p:cNvPr>
          <p:cNvPicPr>
            <a:picLocks noChangeAspect="1"/>
          </p:cNvPicPr>
          <p:nvPr/>
        </p:nvPicPr>
        <p:blipFill>
          <a:blip r:embed="rId2"/>
          <a:stretch>
            <a:fillRect/>
          </a:stretch>
        </p:blipFill>
        <p:spPr>
          <a:xfrm>
            <a:off x="0" y="248241"/>
            <a:ext cx="3562165" cy="740841"/>
          </a:xfrm>
          <a:prstGeom prst="rect">
            <a:avLst/>
          </a:prstGeom>
        </p:spPr>
      </p:pic>
      <p:sp>
        <p:nvSpPr>
          <p:cNvPr id="5" name="TextBox 4">
            <a:extLst>
              <a:ext uri="{FF2B5EF4-FFF2-40B4-BE49-F238E27FC236}">
                <a16:creationId xmlns:a16="http://schemas.microsoft.com/office/drawing/2014/main" id="{692C587C-1291-940A-AC32-46B6EBFF09C5}"/>
              </a:ext>
            </a:extLst>
          </p:cNvPr>
          <p:cNvSpPr txBox="1"/>
          <p:nvPr/>
        </p:nvSpPr>
        <p:spPr>
          <a:xfrm>
            <a:off x="460529" y="1844890"/>
            <a:ext cx="750677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rPr>
              <a:t>To become an excellent department by empowering the graduates to address the challenges in the fast changing scenario, adhering to ethical values.</a:t>
            </a:r>
          </a:p>
          <a:p>
            <a:pPr algn="l"/>
            <a:endParaRPr lang="en-US" dirty="0">
              <a:latin typeface="Times New Roman"/>
            </a:endParaRPr>
          </a:p>
        </p:txBody>
      </p:sp>
      <p:sp>
        <p:nvSpPr>
          <p:cNvPr id="6" name="TextBox 3">
            <a:extLst>
              <a:ext uri="{FF2B5EF4-FFF2-40B4-BE49-F238E27FC236}">
                <a16:creationId xmlns:a16="http://schemas.microsoft.com/office/drawing/2014/main" id="{DEB45C1E-D8A3-D5F9-0234-1B1A22B701EE}"/>
              </a:ext>
            </a:extLst>
          </p:cNvPr>
          <p:cNvSpPr txBox="1"/>
          <p:nvPr/>
        </p:nvSpPr>
        <p:spPr>
          <a:xfrm>
            <a:off x="460529" y="1448170"/>
            <a:ext cx="2130640"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sz="2000" b="1" dirty="0">
                <a:latin typeface="Times New Roman"/>
              </a:rPr>
              <a:t>VISION</a:t>
            </a:r>
          </a:p>
        </p:txBody>
      </p:sp>
      <p:sp>
        <p:nvSpPr>
          <p:cNvPr id="7" name="TextBox 3">
            <a:extLst>
              <a:ext uri="{FF2B5EF4-FFF2-40B4-BE49-F238E27FC236}">
                <a16:creationId xmlns:a16="http://schemas.microsoft.com/office/drawing/2014/main" id="{39189AF1-04AF-3E43-A863-8267E9386EC6}"/>
              </a:ext>
            </a:extLst>
          </p:cNvPr>
          <p:cNvSpPr txBox="1"/>
          <p:nvPr/>
        </p:nvSpPr>
        <p:spPr>
          <a:xfrm>
            <a:off x="459809" y="2576113"/>
            <a:ext cx="2130640"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lang="en-US" sz="2000" b="1" dirty="0">
                <a:latin typeface="Times New Roman"/>
              </a:rPr>
              <a:t>MISSION</a:t>
            </a:r>
          </a:p>
        </p:txBody>
      </p:sp>
      <p:sp>
        <p:nvSpPr>
          <p:cNvPr id="8" name="TextBox 7">
            <a:extLst>
              <a:ext uri="{FF2B5EF4-FFF2-40B4-BE49-F238E27FC236}">
                <a16:creationId xmlns:a16="http://schemas.microsoft.com/office/drawing/2014/main" id="{65004A1A-AB38-5976-8126-4AC81C8E2FEA}"/>
              </a:ext>
            </a:extLst>
          </p:cNvPr>
          <p:cNvSpPr txBox="1"/>
          <p:nvPr/>
        </p:nvSpPr>
        <p:spPr>
          <a:xfrm>
            <a:off x="459809" y="2974634"/>
            <a:ext cx="8028741"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rPr>
              <a:t> • Inculcate skills to solve complex engineering problems and instill entrepreneurial capabilities.</a:t>
            </a:r>
            <a:endParaRPr lang="en-US" dirty="0"/>
          </a:p>
          <a:p>
            <a:r>
              <a:rPr lang="en-US" dirty="0">
                <a:latin typeface="Times New Roman"/>
              </a:rPr>
              <a:t> • Equip the students to advance with the recent trends and technology through Research and Innovations       in the field of computer science.</a:t>
            </a:r>
            <a:endParaRPr lang="en-US" dirty="0"/>
          </a:p>
          <a:p>
            <a:r>
              <a:rPr lang="en-US" dirty="0">
                <a:latin typeface="Times New Roman"/>
              </a:rPr>
              <a:t> • Facilitate the development of professional behavior, ethical values and the spirit of service to the society.</a:t>
            </a:r>
          </a:p>
          <a:p>
            <a:endParaRPr lang="en-US" dirty="0">
              <a:latin typeface="Times New Roman"/>
            </a:endParaRPr>
          </a:p>
        </p:txBody>
      </p:sp>
    </p:spTree>
    <p:extLst>
      <p:ext uri="{BB962C8B-B14F-4D97-AF65-F5344CB8AC3E}">
        <p14:creationId xmlns:p14="http://schemas.microsoft.com/office/powerpoint/2010/main" val="1128216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31B96-F8BC-17C7-480A-DF38D0AF12A4}"/>
              </a:ext>
            </a:extLst>
          </p:cNvPr>
          <p:cNvSpPr>
            <a:spLocks noGrp="1"/>
          </p:cNvSpPr>
          <p:nvPr>
            <p:ph type="title"/>
          </p:nvPr>
        </p:nvSpPr>
        <p:spPr>
          <a:xfrm>
            <a:off x="266975" y="250444"/>
            <a:ext cx="8610050" cy="558800"/>
          </a:xfrm>
        </p:spPr>
        <p:txBody>
          <a:bodyPr>
            <a:normAutofit/>
          </a:bodyPr>
          <a:lstStyle/>
          <a:p>
            <a:r>
              <a:rPr lang="en-US" sz="2000" b="1" spc="-10" dirty="0">
                <a:effectLst/>
                <a:latin typeface="Times New Roman"/>
                <a:ea typeface="Times New Roman" panose="02020603050405020304" pitchFamily="18" charset="0"/>
              </a:rPr>
              <a:t>ABSTRACT</a:t>
            </a:r>
            <a:endParaRPr lang="en-US" sz="2000" b="1" dirty="0">
              <a:latin typeface="Times New Roman"/>
            </a:endParaRPr>
          </a:p>
        </p:txBody>
      </p:sp>
      <p:sp>
        <p:nvSpPr>
          <p:cNvPr id="4" name="TextBox 3">
            <a:extLst>
              <a:ext uri="{FF2B5EF4-FFF2-40B4-BE49-F238E27FC236}">
                <a16:creationId xmlns:a16="http://schemas.microsoft.com/office/drawing/2014/main" id="{3A64B569-91DE-B124-6129-79F59E7FF0E1}"/>
              </a:ext>
            </a:extLst>
          </p:cNvPr>
          <p:cNvSpPr txBox="1"/>
          <p:nvPr/>
        </p:nvSpPr>
        <p:spPr>
          <a:xfrm>
            <a:off x="2286000" y="725852"/>
            <a:ext cx="4572000" cy="307777"/>
          </a:xfrm>
          <a:prstGeom prst="rect">
            <a:avLst/>
          </a:prstGeom>
          <a:noFill/>
        </p:spPr>
        <p:txBody>
          <a:bodyPr wrap="square">
            <a:spAutoFit/>
          </a:bodyPr>
          <a:lstStyle/>
          <a:p>
            <a:pPr algn="ctr"/>
            <a:r>
              <a:rPr lang="en-GB" sz="14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SentinelURL</a:t>
            </a:r>
            <a:r>
              <a:rPr lang="en-GB" sz="1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Intelligent Phishing Detection System</a:t>
            </a:r>
            <a:endParaRPr lang="en-US" sz="1400" b="1" dirty="0"/>
          </a:p>
        </p:txBody>
      </p:sp>
      <p:sp>
        <p:nvSpPr>
          <p:cNvPr id="10" name="TextBox 9">
            <a:extLst>
              <a:ext uri="{FF2B5EF4-FFF2-40B4-BE49-F238E27FC236}">
                <a16:creationId xmlns:a16="http://schemas.microsoft.com/office/drawing/2014/main" id="{118DE957-C8CC-DADD-EA6F-69540EBBD267}"/>
              </a:ext>
            </a:extLst>
          </p:cNvPr>
          <p:cNvSpPr txBox="1"/>
          <p:nvPr/>
        </p:nvSpPr>
        <p:spPr>
          <a:xfrm>
            <a:off x="459813" y="1098472"/>
            <a:ext cx="8417212" cy="3608232"/>
          </a:xfrm>
          <a:prstGeom prst="rect">
            <a:avLst/>
          </a:prstGeom>
          <a:noFill/>
        </p:spPr>
        <p:txBody>
          <a:bodyPr wrap="square" lIns="91440" tIns="45720" rIns="91440" bIns="45720" anchor="t">
            <a:spAutoFit/>
          </a:bodyPr>
          <a:lstStyle/>
          <a:p>
            <a:pPr algn="just">
              <a:lnSpc>
                <a:spcPct val="150000"/>
              </a:lnSpc>
            </a:pPr>
            <a:r>
              <a:rPr lang="en-US" dirty="0">
                <a:latin typeface="Times New Roman"/>
              </a:rPr>
              <a:t>Phishing attacks are everywhere these days, and they trick people into going to bad websites that grab personal info like passwords or credit card numbers. It’s scary how often this happens. </a:t>
            </a:r>
            <a:r>
              <a:rPr lang="en-US" dirty="0" err="1">
                <a:latin typeface="Times New Roman"/>
              </a:rPr>
              <a:t>SentinelUrl</a:t>
            </a:r>
            <a:r>
              <a:rPr lang="en-US" dirty="0">
                <a:latin typeface="Times New Roman"/>
              </a:rPr>
              <a:t> is this web app we came across, meant to check if a URL is okay or not. It helps users figure things out fast without getting their own devices in trouble. The way it works involves a couple layers of checking the link. First off, there’s the static part where it looks at the domain stuff, like DNS records and if it has HTTPS set up right, plus it checks against lists of known bad sites from threat </a:t>
            </a:r>
            <a:r>
              <a:rPr lang="en-US" dirty="0" err="1">
                <a:latin typeface="Times New Roman"/>
              </a:rPr>
              <a:t>sources.Then</a:t>
            </a:r>
            <a:r>
              <a:rPr lang="en-US" dirty="0">
                <a:latin typeface="Times New Roman"/>
              </a:rPr>
              <a:t> it actually opens the URL in a safe sandbox, kind of like an isolated box, and watches what the site does—things like redirects, what networks it talks to, any scripts running, even the visuals on the page. It feels like that’s where it gets more real about the </a:t>
            </a:r>
            <a:r>
              <a:rPr lang="en-US" dirty="0" err="1">
                <a:latin typeface="Times New Roman"/>
              </a:rPr>
              <a:t>behaviour</a:t>
            </a:r>
            <a:r>
              <a:rPr lang="en-US" dirty="0">
                <a:latin typeface="Times New Roman"/>
              </a:rPr>
              <a:t>. Putting all that together, the app spits out a threat score and a report that’s supposed to be straightforward, explaining if the link’s safe or suspicious or straight-up malicious. Users can decide based on that without the risk. Overall, </a:t>
            </a:r>
            <a:r>
              <a:rPr lang="en-US" dirty="0" err="1">
                <a:latin typeface="Times New Roman"/>
              </a:rPr>
              <a:t>SentinelUrl</a:t>
            </a:r>
            <a:r>
              <a:rPr lang="en-US" dirty="0">
                <a:latin typeface="Times New Roman"/>
              </a:rPr>
              <a:t> tries to make browsing safer by catching phishing early.</a:t>
            </a:r>
            <a:endParaRPr lang="en-US"/>
          </a:p>
        </p:txBody>
      </p:sp>
    </p:spTree>
    <p:extLst>
      <p:ext uri="{BB962C8B-B14F-4D97-AF65-F5344CB8AC3E}">
        <p14:creationId xmlns:p14="http://schemas.microsoft.com/office/powerpoint/2010/main" val="4270740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F97D7-622A-17AA-811A-595A49EABB47}"/>
              </a:ext>
            </a:extLst>
          </p:cNvPr>
          <p:cNvSpPr>
            <a:spLocks noGrp="1"/>
          </p:cNvSpPr>
          <p:nvPr>
            <p:ph type="title"/>
          </p:nvPr>
        </p:nvSpPr>
        <p:spPr>
          <a:xfrm>
            <a:off x="311700" y="499565"/>
            <a:ext cx="8520600" cy="592490"/>
          </a:xfrm>
        </p:spPr>
        <p:txBody>
          <a:bodyPr>
            <a:normAutofit/>
          </a:bodyPr>
          <a:lstStyle/>
          <a:p>
            <a:r>
              <a:rPr lang="en-US" sz="2000" b="1" dirty="0">
                <a:latin typeface="Times New Roman"/>
              </a:rPr>
              <a:t>PROBLEM STATEMENT</a:t>
            </a:r>
          </a:p>
        </p:txBody>
      </p:sp>
      <p:sp>
        <p:nvSpPr>
          <p:cNvPr id="3" name="TextBox 2">
            <a:extLst>
              <a:ext uri="{FF2B5EF4-FFF2-40B4-BE49-F238E27FC236}">
                <a16:creationId xmlns:a16="http://schemas.microsoft.com/office/drawing/2014/main" id="{20A07B02-35D6-587D-7947-348EA790AF96}"/>
              </a:ext>
            </a:extLst>
          </p:cNvPr>
          <p:cNvSpPr txBox="1"/>
          <p:nvPr/>
        </p:nvSpPr>
        <p:spPr>
          <a:xfrm>
            <a:off x="624713" y="1186674"/>
            <a:ext cx="8114426"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latin typeface="Times New Roman"/>
              </a:rPr>
              <a:t>The phishing </a:t>
            </a:r>
            <a:r>
              <a:rPr lang="en-US" dirty="0">
                <a:latin typeface="Times New Roman"/>
              </a:rPr>
              <a:t>attacks </a:t>
            </a:r>
            <a:r>
              <a:rPr lang="en-US">
                <a:latin typeface="Times New Roman"/>
              </a:rPr>
              <a:t>are carried out using URLs with </a:t>
            </a:r>
            <a:r>
              <a:rPr lang="en-US" dirty="0">
                <a:latin typeface="Times New Roman"/>
              </a:rPr>
              <a:t>malicious </a:t>
            </a:r>
            <a:r>
              <a:rPr lang="en-US">
                <a:latin typeface="Times New Roman"/>
              </a:rPr>
              <a:t>intent </a:t>
            </a:r>
            <a:r>
              <a:rPr lang="en-US" dirty="0">
                <a:latin typeface="Times New Roman"/>
              </a:rPr>
              <a:t>to steal </a:t>
            </a:r>
            <a:r>
              <a:rPr lang="en-US">
                <a:latin typeface="Times New Roman"/>
              </a:rPr>
              <a:t>valuable </a:t>
            </a:r>
            <a:r>
              <a:rPr lang="en-US" dirty="0">
                <a:latin typeface="Times New Roman"/>
              </a:rPr>
              <a:t>information</a:t>
            </a:r>
            <a:r>
              <a:rPr lang="en-US">
                <a:latin typeface="Times New Roman"/>
              </a:rPr>
              <a:t> from users</a:t>
            </a:r>
            <a:r>
              <a:rPr lang="en-US" dirty="0">
                <a:latin typeface="Times New Roman"/>
              </a:rPr>
              <a:t>.</a:t>
            </a:r>
            <a:endParaRPr lang="en-US"/>
          </a:p>
          <a:p>
            <a:pPr marL="285750" indent="-285750">
              <a:buChar char="•"/>
            </a:pPr>
            <a:endParaRPr lang="en-US">
              <a:latin typeface="Times New Roman"/>
            </a:endParaRPr>
          </a:p>
          <a:p>
            <a:pPr marL="285750" indent="-285750">
              <a:buChar char="•"/>
            </a:pPr>
            <a:r>
              <a:rPr lang="en-US">
                <a:latin typeface="Times New Roman"/>
              </a:rPr>
              <a:t>Phishing sites look a lot like real sites. This makes it hard to spot them manually</a:t>
            </a:r>
            <a:r>
              <a:rPr lang="en-US" dirty="0">
                <a:latin typeface="Times New Roman"/>
              </a:rPr>
              <a:t>.</a:t>
            </a:r>
            <a:endParaRPr lang="en-US">
              <a:latin typeface="Times New Roman"/>
            </a:endParaRPr>
          </a:p>
          <a:p>
            <a:pPr marL="285750" indent="-285750">
              <a:buChar char="•"/>
            </a:pPr>
            <a:endParaRPr lang="en-US">
              <a:latin typeface="Times New Roman"/>
            </a:endParaRPr>
          </a:p>
          <a:p>
            <a:pPr marL="285750" indent="-285750">
              <a:buChar char="•"/>
            </a:pPr>
            <a:r>
              <a:rPr lang="en-US">
                <a:latin typeface="Times New Roman"/>
              </a:rPr>
              <a:t>The earlier approaches lack comprehensive </a:t>
            </a:r>
            <a:r>
              <a:rPr lang="en-US" dirty="0">
                <a:latin typeface="Times New Roman"/>
              </a:rPr>
              <a:t>analysis and lack monitoring</a:t>
            </a:r>
            <a:r>
              <a:rPr lang="en-US">
                <a:latin typeface="Times New Roman"/>
              </a:rPr>
              <a:t> features for real-time behaviors</a:t>
            </a:r>
            <a:r>
              <a:rPr lang="en-US" dirty="0">
                <a:latin typeface="Times New Roman"/>
              </a:rPr>
              <a:t>.</a:t>
            </a:r>
            <a:endParaRPr lang="en-US">
              <a:latin typeface="Times New Roman"/>
            </a:endParaRPr>
          </a:p>
          <a:p>
            <a:pPr marL="285750" indent="-285750">
              <a:buChar char="•"/>
            </a:pPr>
            <a:endParaRPr lang="en-US">
              <a:latin typeface="Times New Roman"/>
            </a:endParaRPr>
          </a:p>
          <a:p>
            <a:pPr marL="285750" indent="-285750">
              <a:buChar char="•"/>
            </a:pPr>
            <a:r>
              <a:rPr lang="en-US">
                <a:latin typeface="Times New Roman"/>
              </a:rPr>
              <a:t>The user is left without explanation </a:t>
            </a:r>
            <a:r>
              <a:rPr lang="en-US" dirty="0">
                <a:latin typeface="Times New Roman"/>
              </a:rPr>
              <a:t>or </a:t>
            </a:r>
            <a:r>
              <a:rPr lang="en-US">
                <a:latin typeface="Times New Roman"/>
              </a:rPr>
              <a:t>proof if the </a:t>
            </a:r>
            <a:r>
              <a:rPr lang="en-US" dirty="0">
                <a:latin typeface="Times New Roman"/>
              </a:rPr>
              <a:t>URL </a:t>
            </a:r>
            <a:r>
              <a:rPr lang="en-US">
                <a:latin typeface="Times New Roman"/>
              </a:rPr>
              <a:t>has been </a:t>
            </a:r>
            <a:r>
              <a:rPr lang="en-US" dirty="0">
                <a:latin typeface="Times New Roman"/>
              </a:rPr>
              <a:t>flagged.</a:t>
            </a:r>
            <a:endParaRPr lang="en-US">
              <a:latin typeface="Times New Roman"/>
            </a:endParaRPr>
          </a:p>
          <a:p>
            <a:pPr marL="285750" indent="-285750">
              <a:buChar char="•"/>
            </a:pPr>
            <a:endParaRPr lang="en-US">
              <a:latin typeface="Times New Roman"/>
            </a:endParaRPr>
          </a:p>
          <a:p>
            <a:pPr marL="285750" indent="-285750">
              <a:buChar char="•"/>
            </a:pPr>
            <a:r>
              <a:rPr lang="en-US">
                <a:latin typeface="Times New Roman"/>
              </a:rPr>
              <a:t>A </a:t>
            </a:r>
            <a:r>
              <a:rPr lang="en-US" dirty="0">
                <a:latin typeface="Times New Roman"/>
              </a:rPr>
              <a:t>system </a:t>
            </a:r>
            <a:r>
              <a:rPr lang="en-US">
                <a:latin typeface="Times New Roman"/>
              </a:rPr>
              <a:t>is required </a:t>
            </a:r>
            <a:r>
              <a:rPr lang="en-US" dirty="0">
                <a:latin typeface="Times New Roman"/>
              </a:rPr>
              <a:t>that </a:t>
            </a:r>
            <a:r>
              <a:rPr lang="en-US">
                <a:latin typeface="Times New Roman"/>
              </a:rPr>
              <a:t>is capable of </a:t>
            </a:r>
            <a:r>
              <a:rPr lang="en-US" dirty="0">
                <a:latin typeface="Times New Roman"/>
              </a:rPr>
              <a:t>safely and </a:t>
            </a:r>
            <a:r>
              <a:rPr lang="en-US">
                <a:latin typeface="Times New Roman"/>
              </a:rPr>
              <a:t>reliably analyzing a given URL and pinpointing a </a:t>
            </a:r>
            <a:r>
              <a:rPr lang="en-US" dirty="0">
                <a:latin typeface="Times New Roman"/>
              </a:rPr>
              <a:t>phishing </a:t>
            </a:r>
            <a:r>
              <a:rPr lang="en-US">
                <a:latin typeface="Times New Roman"/>
              </a:rPr>
              <a:t>threat</a:t>
            </a:r>
            <a:r>
              <a:rPr lang="en-US" dirty="0">
                <a:latin typeface="Times New Roman"/>
              </a:rPr>
              <a:t>.</a:t>
            </a:r>
            <a:endParaRPr lang="en-US">
              <a:latin typeface="Times New Roman"/>
            </a:endParaRPr>
          </a:p>
        </p:txBody>
      </p:sp>
    </p:spTree>
    <p:extLst>
      <p:ext uri="{BB962C8B-B14F-4D97-AF65-F5344CB8AC3E}">
        <p14:creationId xmlns:p14="http://schemas.microsoft.com/office/powerpoint/2010/main" val="2410522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EEA2C-C246-7F38-AB28-A6B0BCF67235}"/>
              </a:ext>
            </a:extLst>
          </p:cNvPr>
          <p:cNvSpPr>
            <a:spLocks noGrp="1"/>
          </p:cNvSpPr>
          <p:nvPr>
            <p:ph type="title"/>
          </p:nvPr>
        </p:nvSpPr>
        <p:spPr/>
        <p:txBody>
          <a:bodyPr>
            <a:normAutofit/>
          </a:bodyPr>
          <a:lstStyle/>
          <a:p>
            <a:pPr algn="ctr"/>
            <a:r>
              <a:rPr lang="en-GB" sz="2000" b="1">
                <a:latin typeface="Times New Roman"/>
                <a:cs typeface="Times New Roman"/>
              </a:rPr>
              <a:t>OBJECTIVES</a:t>
            </a:r>
            <a:endParaRPr lang="en-US" sz="2000" b="1">
              <a:latin typeface="Times New Roman"/>
              <a:cs typeface="Times New Roman"/>
            </a:endParaRPr>
          </a:p>
        </p:txBody>
      </p:sp>
      <p:sp>
        <p:nvSpPr>
          <p:cNvPr id="3" name="Text Placeholder 2">
            <a:extLst>
              <a:ext uri="{FF2B5EF4-FFF2-40B4-BE49-F238E27FC236}">
                <a16:creationId xmlns:a16="http://schemas.microsoft.com/office/drawing/2014/main" id="{D51894EF-5224-35D3-1501-E5ABE8DFEBFD}"/>
              </a:ext>
            </a:extLst>
          </p:cNvPr>
          <p:cNvSpPr>
            <a:spLocks noGrp="1"/>
          </p:cNvSpPr>
          <p:nvPr>
            <p:ph type="body" idx="1"/>
          </p:nvPr>
        </p:nvSpPr>
        <p:spPr/>
        <p:txBody>
          <a:bodyPr>
            <a:normAutofit/>
          </a:bodyPr>
          <a:lstStyle/>
          <a:p>
            <a:pPr>
              <a:lnSpc>
                <a:spcPct val="150000"/>
              </a:lnSpc>
              <a:buFont typeface="Arial" panose="020B0604020202020204" pitchFamily="34" charset="0"/>
              <a:buChar char="•"/>
            </a:pPr>
            <a:r>
              <a:rPr lang="en-GB" sz="1400" dirty="0">
                <a:solidFill>
                  <a:schemeClr val="tx1"/>
                </a:solidFill>
                <a:latin typeface="Times New Roman"/>
                <a:cs typeface="Times New Roman"/>
              </a:rPr>
              <a:t>To design an accurate phishing URL detection system.</a:t>
            </a:r>
          </a:p>
          <a:p>
            <a:pPr>
              <a:lnSpc>
                <a:spcPct val="150000"/>
              </a:lnSpc>
              <a:buFont typeface="Arial" panose="020B0604020202020204" pitchFamily="34" charset="0"/>
              <a:buChar char="•"/>
            </a:pPr>
            <a:r>
              <a:rPr lang="en-GB" sz="1400" dirty="0">
                <a:solidFill>
                  <a:schemeClr val="tx1"/>
                </a:solidFill>
                <a:latin typeface="Times New Roman"/>
                <a:cs typeface="Times New Roman"/>
              </a:rPr>
              <a:t>The analysis of URLs should be done in a safe way, without putting users at risk.</a:t>
            </a:r>
          </a:p>
          <a:p>
            <a:pPr>
              <a:lnSpc>
                <a:spcPct val="150000"/>
              </a:lnSpc>
              <a:buFont typeface="Arial" panose="020B0604020202020204" pitchFamily="34" charset="0"/>
              <a:buChar char="•"/>
            </a:pPr>
            <a:r>
              <a:rPr lang="en-GB" sz="1400" dirty="0">
                <a:solidFill>
                  <a:schemeClr val="tx1"/>
                </a:solidFill>
                <a:latin typeface="Times New Roman"/>
                <a:cs typeface="Times New Roman"/>
              </a:rPr>
              <a:t>To carry out static analysis using domain and threat‑intelligence checks.</a:t>
            </a:r>
          </a:p>
          <a:p>
            <a:pPr>
              <a:lnSpc>
                <a:spcPct val="150000"/>
              </a:lnSpc>
              <a:buFont typeface="Arial" panose="020B0604020202020204" pitchFamily="34" charset="0"/>
              <a:buChar char="•"/>
            </a:pPr>
            <a:r>
              <a:rPr lang="en-GB" sz="1400" dirty="0">
                <a:solidFill>
                  <a:schemeClr val="tx1"/>
                </a:solidFill>
                <a:latin typeface="Times New Roman"/>
                <a:cs typeface="Times New Roman"/>
              </a:rPr>
              <a:t>To observe real‑time website </a:t>
            </a:r>
            <a:r>
              <a:rPr lang="en-GB" sz="1400" dirty="0" err="1">
                <a:solidFill>
                  <a:schemeClr val="tx1"/>
                </a:solidFill>
                <a:latin typeface="Times New Roman"/>
                <a:cs typeface="Times New Roman"/>
              </a:rPr>
              <a:t>behavior</a:t>
            </a:r>
            <a:r>
              <a:rPr lang="en-GB" sz="1400" dirty="0">
                <a:solidFill>
                  <a:schemeClr val="tx1"/>
                </a:solidFill>
                <a:latin typeface="Times New Roman"/>
                <a:cs typeface="Times New Roman"/>
              </a:rPr>
              <a:t> using sandbox execution.</a:t>
            </a:r>
          </a:p>
          <a:p>
            <a:pPr>
              <a:lnSpc>
                <a:spcPct val="150000"/>
              </a:lnSpc>
              <a:buFont typeface="Arial" panose="020B0604020202020204" pitchFamily="34" charset="0"/>
              <a:buChar char="•"/>
            </a:pPr>
            <a:r>
              <a:rPr lang="en-GB" sz="1400" dirty="0">
                <a:solidFill>
                  <a:schemeClr val="tx1"/>
                </a:solidFill>
                <a:latin typeface="Times New Roman"/>
                <a:cs typeface="Times New Roman"/>
              </a:rPr>
              <a:t>To classify URLs into Safe, Suspicious, or Malicious.</a:t>
            </a:r>
          </a:p>
          <a:p>
            <a:pPr>
              <a:lnSpc>
                <a:spcPct val="150000"/>
              </a:lnSpc>
              <a:buFont typeface="Arial" panose="020B0604020202020204" pitchFamily="34" charset="0"/>
              <a:buChar char="•"/>
            </a:pPr>
            <a:r>
              <a:rPr lang="en-GB" sz="1400" dirty="0">
                <a:solidFill>
                  <a:schemeClr val="tx1"/>
                </a:solidFill>
                <a:latin typeface="Times New Roman"/>
                <a:cs typeface="Times New Roman"/>
              </a:rPr>
              <a:t>To give clear reports with evidence to support this.</a:t>
            </a:r>
            <a:endParaRPr lang="en-US" sz="1400" dirty="0">
              <a:solidFill>
                <a:schemeClr val="tx1"/>
              </a:solidFill>
              <a:latin typeface="Times New Roman"/>
              <a:cs typeface="Times New Roman"/>
            </a:endParaRPr>
          </a:p>
        </p:txBody>
      </p:sp>
    </p:spTree>
    <p:extLst>
      <p:ext uri="{BB962C8B-B14F-4D97-AF65-F5344CB8AC3E}">
        <p14:creationId xmlns:p14="http://schemas.microsoft.com/office/powerpoint/2010/main" val="443829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ED3E4-0D9A-3352-C8BC-180D760DB4E6}"/>
              </a:ext>
            </a:extLst>
          </p:cNvPr>
          <p:cNvSpPr>
            <a:spLocks noGrp="1"/>
          </p:cNvSpPr>
          <p:nvPr>
            <p:ph type="title"/>
          </p:nvPr>
        </p:nvSpPr>
        <p:spPr>
          <a:xfrm>
            <a:off x="236749" y="230235"/>
            <a:ext cx="8520600" cy="841800"/>
          </a:xfrm>
        </p:spPr>
        <p:txBody>
          <a:bodyPr>
            <a:normAutofit/>
          </a:bodyPr>
          <a:lstStyle/>
          <a:p>
            <a:r>
              <a:rPr lang="en-US" sz="2000" b="1" dirty="0">
                <a:latin typeface="Times New Roman"/>
              </a:rPr>
              <a:t>NEED FOR THE SYSTEM</a:t>
            </a:r>
          </a:p>
        </p:txBody>
      </p:sp>
      <p:sp>
        <p:nvSpPr>
          <p:cNvPr id="3" name="TextBox 2">
            <a:extLst>
              <a:ext uri="{FF2B5EF4-FFF2-40B4-BE49-F238E27FC236}">
                <a16:creationId xmlns:a16="http://schemas.microsoft.com/office/drawing/2014/main" id="{EA35D056-BE60-DF14-85E5-76F69A70F06B}"/>
              </a:ext>
            </a:extLst>
          </p:cNvPr>
          <p:cNvSpPr txBox="1"/>
          <p:nvPr/>
        </p:nvSpPr>
        <p:spPr>
          <a:xfrm>
            <a:off x="857265" y="1174897"/>
            <a:ext cx="7999351"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GB">
                <a:latin typeface="Times New Roman"/>
              </a:rPr>
              <a:t>Phishing attacks increase rapidly and attack users via malicious URLs.</a:t>
            </a:r>
            <a:endParaRPr lang="en-GB">
              <a:latin typeface="Times New Roman"/>
              <a:cs typeface="Times New Roman" panose="02020603050405020304" pitchFamily="18" charset="0"/>
            </a:endParaRPr>
          </a:p>
          <a:p>
            <a:pPr marL="285750" indent="-285750">
              <a:buFont typeface="Arial" panose="020B0604020202020204" pitchFamily="34" charset="0"/>
              <a:buChar char="•"/>
            </a:pPr>
            <a:endParaRPr lang="en-GB">
              <a:latin typeface="Times New Roman"/>
            </a:endParaRPr>
          </a:p>
          <a:p>
            <a:pPr marL="285750" indent="-285750">
              <a:buChar char="•"/>
            </a:pPr>
            <a:r>
              <a:rPr lang="en-GB">
                <a:latin typeface="Times New Roman"/>
              </a:rPr>
              <a:t>People cannot be able to detect sites that seemingly look real yet are actually fake.</a:t>
            </a:r>
          </a:p>
          <a:p>
            <a:pPr marL="285750" indent="-285750">
              <a:buFont typeface="Arial" panose="020B0604020202020204" pitchFamily="34" charset="0"/>
              <a:buChar char="•"/>
            </a:pPr>
            <a:endParaRPr lang="en-GB">
              <a:latin typeface="Times New Roman"/>
            </a:endParaRPr>
          </a:p>
          <a:p>
            <a:pPr marL="285750" indent="-285750">
              <a:buChar char="•"/>
            </a:pPr>
            <a:r>
              <a:rPr lang="en-GB">
                <a:latin typeface="Times New Roman"/>
              </a:rPr>
              <a:t>Existing tools only provide limited detection and are without real‑time behavior analysis.</a:t>
            </a:r>
          </a:p>
          <a:p>
            <a:pPr marL="285750" indent="-285750">
              <a:buFont typeface="Arial" panose="020B0604020202020204" pitchFamily="34" charset="0"/>
              <a:buChar char="•"/>
            </a:pPr>
            <a:endParaRPr lang="en-GB">
              <a:latin typeface="Times New Roman"/>
            </a:endParaRPr>
          </a:p>
          <a:p>
            <a:pPr marL="285750" indent="-285750">
              <a:buChar char="•"/>
            </a:pPr>
            <a:r>
              <a:rPr lang="en-GB">
                <a:latin typeface="Times New Roman"/>
              </a:rPr>
              <a:t>This is why many systems do not provide clear reasons or evidence for detected threats.</a:t>
            </a:r>
          </a:p>
          <a:p>
            <a:pPr marL="285750" indent="-285750">
              <a:buFont typeface="Arial" panose="020B0604020202020204" pitchFamily="34" charset="0"/>
              <a:buChar char="•"/>
            </a:pPr>
            <a:endParaRPr lang="en-GB">
              <a:latin typeface="Times New Roman"/>
            </a:endParaRPr>
          </a:p>
          <a:p>
            <a:pPr marL="285750" indent="-285750">
              <a:buChar char="•"/>
            </a:pPr>
            <a:r>
              <a:rPr lang="en-GB">
                <a:latin typeface="Times New Roman"/>
              </a:rPr>
              <a:t>A Need is felt for an approach that offers a secure, correct, and safe URL analysis.</a:t>
            </a:r>
          </a:p>
          <a:p>
            <a:pPr marL="285750" indent="-285750">
              <a:buChar char="•"/>
            </a:pPr>
            <a:endParaRPr lang="en-GB">
              <a:latin typeface="Times New Roman"/>
            </a:endParaRPr>
          </a:p>
          <a:p>
            <a:pPr marL="285750" indent="-285750">
              <a:buChar char="•"/>
            </a:pPr>
            <a:r>
              <a:rPr lang="en-GB">
                <a:latin typeface="Times New Roman"/>
              </a:rPr>
              <a:t>A combined static and dynamic approach is necessary for successful phishing detection.</a:t>
            </a:r>
          </a:p>
        </p:txBody>
      </p:sp>
    </p:spTree>
    <p:extLst>
      <p:ext uri="{BB962C8B-B14F-4D97-AF65-F5344CB8AC3E}">
        <p14:creationId xmlns:p14="http://schemas.microsoft.com/office/powerpoint/2010/main" val="2603315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000" b="1">
                <a:latin typeface="Times New Roman"/>
                <a:ea typeface="Times New Roman"/>
                <a:cs typeface="Times New Roman"/>
                <a:sym typeface="Times New Roman"/>
              </a:rPr>
              <a:t>PROPOSED SYSTEM</a:t>
            </a:r>
            <a:endParaRPr lang="en-US" sz="2000" b="1">
              <a:latin typeface="Times New Roman"/>
              <a:ea typeface="Times New Roman"/>
              <a:cs typeface="Times New Roman"/>
            </a:endParaRPr>
          </a:p>
        </p:txBody>
      </p:sp>
      <p:sp>
        <p:nvSpPr>
          <p:cNvPr id="75" name="Google Shape;75;p16"/>
          <p:cNvSpPr txBox="1">
            <a:spLocks noGrp="1"/>
          </p:cNvSpPr>
          <p:nvPr>
            <p:ph type="body" idx="1"/>
          </p:nvPr>
        </p:nvSpPr>
        <p:spPr>
          <a:xfrm>
            <a:off x="807375" y="1018208"/>
            <a:ext cx="7754491" cy="3600220"/>
          </a:xfrm>
          <a:prstGeom prst="rect">
            <a:avLst/>
          </a:prstGeom>
        </p:spPr>
        <p:txBody>
          <a:bodyPr spcFirstLastPara="1" wrap="square" lIns="91425" tIns="91425" rIns="91425" bIns="91425" anchor="t" anchorCtr="0">
            <a:noAutofit/>
          </a:bodyPr>
          <a:lstStyle/>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User submits suspicious URL</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Static Analysis without accessing a website: WHOIS, DNS, TLS, Threat Intelligence services</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Detection of common phishing indicators</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Secure sandbox execution of the URL</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Detection of real-time behaviour (redirects, scripts, page actions)</a:t>
            </a:r>
            <a:endParaRPr lang="en-GB" sz="1400" dirty="0">
              <a:solidFill>
                <a:schemeClr val="dk1"/>
              </a:solidFill>
              <a:latin typeface="Times New Roman"/>
              <a:ea typeface="Times New Roman"/>
              <a:cs typeface="Times New Roman"/>
            </a:endParaRP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Taking screenshots, network </a:t>
            </a:r>
            <a:r>
              <a:rPr lang="en-GB" sz="1400" dirty="0" err="1">
                <a:solidFill>
                  <a:schemeClr val="dk1"/>
                </a:solidFill>
                <a:latin typeface="Times New Roman"/>
                <a:ea typeface="Times New Roman"/>
                <a:cs typeface="Times New Roman"/>
                <a:sym typeface="Times New Roman"/>
              </a:rPr>
              <a:t>har</a:t>
            </a:r>
            <a:r>
              <a:rPr lang="en-GB" sz="1400" dirty="0">
                <a:solidFill>
                  <a:schemeClr val="dk1"/>
                </a:solidFill>
                <a:latin typeface="Times New Roman"/>
                <a:ea typeface="Times New Roman"/>
                <a:cs typeface="Times New Roman"/>
                <a:sym typeface="Times New Roman"/>
              </a:rPr>
              <a:t> logs, and DOM information</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Mixed results obtained both statically and dynamically</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Threat Score Calculation</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Classification: Safe / Suspicious / Malicious</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Production of an accurate and evidence-based report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algn="ctr"/>
            <a:r>
              <a:rPr lang="en-GB" sz="2000" b="1">
                <a:latin typeface="Times New Roman"/>
                <a:ea typeface="Times New Roman"/>
                <a:cs typeface="Times New Roman"/>
              </a:rPr>
              <a:t>SOFTWARE REQUIREMENTS</a:t>
            </a:r>
            <a:endParaRPr lang="en-US" sz="2000" b="1"/>
          </a:p>
        </p:txBody>
      </p:sp>
      <p:sp>
        <p:nvSpPr>
          <p:cNvPr id="87" name="Google Shape;87;p18"/>
          <p:cNvSpPr txBox="1">
            <a:spLocks noGrp="1"/>
          </p:cNvSpPr>
          <p:nvPr>
            <p:ph type="body" idx="1"/>
          </p:nvPr>
        </p:nvSpPr>
        <p:spPr>
          <a:xfrm>
            <a:off x="584850" y="1017725"/>
            <a:ext cx="7974300" cy="3648300"/>
          </a:xfrm>
          <a:prstGeom prst="rect">
            <a:avLst/>
          </a:prstGeom>
        </p:spPr>
        <p:txBody>
          <a:bodyPr spcFirstLastPara="1" wrap="square" lIns="91425" tIns="91425" rIns="91425" bIns="91425" anchor="t" anchorCtr="0">
            <a:noAutofit/>
          </a:bodyPr>
          <a:lstStyle/>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OS: Linux / Windows / macOS</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Language: Python 3.9+</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Backend: </a:t>
            </a:r>
            <a:r>
              <a:rPr lang="en-GB" sz="1400" dirty="0" err="1">
                <a:solidFill>
                  <a:schemeClr val="dk1"/>
                </a:solidFill>
                <a:latin typeface="Times New Roman"/>
                <a:ea typeface="Times New Roman"/>
                <a:cs typeface="Times New Roman"/>
                <a:sym typeface="Times New Roman"/>
              </a:rPr>
              <a:t>FastAPI</a:t>
            </a:r>
            <a:endParaRPr lang="en-GB" sz="1400" dirty="0">
              <a:solidFill>
                <a:schemeClr val="dk1"/>
              </a:solidFill>
              <a:latin typeface="Times New Roman"/>
              <a:ea typeface="Times New Roman"/>
              <a:cs typeface="Times New Roman"/>
              <a:sym typeface="Times New Roman"/>
            </a:endParaRP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Static Analysis: Python Regex, WHOIS, DNS tools</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Sandbox: Docker, Playwright </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Async Tasks: Redis, Celery / RQ</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Database: PostgreSQL</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Storage: S3</a:t>
            </a:r>
          </a:p>
          <a:p>
            <a:pPr marL="457200" lvl="0" indent="-342900" algn="just" rtl="0">
              <a:lnSpc>
                <a:spcPct val="150000"/>
              </a:lnSpc>
              <a:spcBef>
                <a:spcPts val="0"/>
              </a:spcBef>
              <a:spcAft>
                <a:spcPts val="0"/>
              </a:spcAft>
              <a:buClr>
                <a:schemeClr val="dk1"/>
              </a:buClr>
              <a:buSzPts val="1800"/>
              <a:buFont typeface="Times New Roman"/>
              <a:buChar char="●"/>
            </a:pPr>
            <a:r>
              <a:rPr lang="en-GB" sz="1400" dirty="0">
                <a:solidFill>
                  <a:schemeClr val="dk1"/>
                </a:solidFill>
                <a:latin typeface="Times New Roman"/>
                <a:ea typeface="Times New Roman"/>
                <a:cs typeface="Times New Roman"/>
                <a:sym typeface="Times New Roman"/>
              </a:rPr>
              <a:t>CI/CD: Git, GitHub Actions</a:t>
            </a:r>
            <a:r>
              <a:rPr lang="en-GB" sz="1400">
                <a:solidFill>
                  <a:schemeClr val="dk1"/>
                </a:solidFill>
                <a:latin typeface="Times New Roman"/>
                <a:ea typeface="Times New Roman"/>
                <a:cs typeface="Times New Roman"/>
                <a:sym typeface="Times New Roman"/>
              </a:rPr>
              <a:t>, Bash</a:t>
            </a:r>
            <a:endParaRPr lang="en-GB" sz="1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2354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dirty="0">
                <a:latin typeface="Times New Roman"/>
                <a:ea typeface="Times New Roman"/>
                <a:cs typeface="Times New Roman"/>
                <a:sym typeface="Times New Roman"/>
              </a:rPr>
              <a:t>SYSTEM ARCHITECTURE</a:t>
            </a:r>
          </a:p>
        </p:txBody>
      </p:sp>
      <p:pic>
        <p:nvPicPr>
          <p:cNvPr id="4" name="Picture 3">
            <a:extLst>
              <a:ext uri="{FF2B5EF4-FFF2-40B4-BE49-F238E27FC236}">
                <a16:creationId xmlns:a16="http://schemas.microsoft.com/office/drawing/2014/main" id="{FF277E91-B06A-9244-A637-AD22B2B4F60E}"/>
              </a:ext>
            </a:extLst>
          </p:cNvPr>
          <p:cNvPicPr>
            <a:picLocks noChangeAspect="1"/>
          </p:cNvPicPr>
          <p:nvPr/>
        </p:nvPicPr>
        <p:blipFill>
          <a:blip r:embed="rId3"/>
          <a:stretch>
            <a:fillRect/>
          </a:stretch>
        </p:blipFill>
        <p:spPr>
          <a:xfrm>
            <a:off x="3006725" y="808175"/>
            <a:ext cx="3130550" cy="43353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976C-C8D2-D531-FC2C-5A91F1C32935}"/>
              </a:ext>
            </a:extLst>
          </p:cNvPr>
          <p:cNvSpPr>
            <a:spLocks noGrp="1"/>
          </p:cNvSpPr>
          <p:nvPr>
            <p:ph type="title"/>
          </p:nvPr>
        </p:nvSpPr>
        <p:spPr>
          <a:xfrm>
            <a:off x="311700" y="117830"/>
            <a:ext cx="8520600" cy="572700"/>
          </a:xfrm>
        </p:spPr>
        <p:txBody>
          <a:bodyPr>
            <a:normAutofit/>
          </a:bodyPr>
          <a:lstStyle/>
          <a:p>
            <a:pPr algn="ctr"/>
            <a:r>
              <a:rPr lang="en-GB" sz="2000" b="1">
                <a:latin typeface="Times New Roman"/>
                <a:cs typeface="Times New Roman"/>
              </a:rPr>
              <a:t>WORK PLAN</a:t>
            </a:r>
            <a:endParaRPr lang="en-US" sz="2000" b="1">
              <a:latin typeface="Times New Roman"/>
              <a:cs typeface="Times New Roman"/>
            </a:endParaRPr>
          </a:p>
        </p:txBody>
      </p:sp>
      <p:sp>
        <p:nvSpPr>
          <p:cNvPr id="6" name="TextBox 5">
            <a:extLst>
              <a:ext uri="{FF2B5EF4-FFF2-40B4-BE49-F238E27FC236}">
                <a16:creationId xmlns:a16="http://schemas.microsoft.com/office/drawing/2014/main" id="{3066798A-A772-1A1D-808B-674C0EA69595}"/>
              </a:ext>
            </a:extLst>
          </p:cNvPr>
          <p:cNvSpPr txBox="1"/>
          <p:nvPr/>
        </p:nvSpPr>
        <p:spPr>
          <a:xfrm>
            <a:off x="401817" y="2787419"/>
            <a:ext cx="1282700" cy="523220"/>
          </a:xfrm>
          <a:prstGeom prst="rect">
            <a:avLst/>
          </a:prstGeom>
          <a:noFill/>
        </p:spPr>
        <p:txBody>
          <a:bodyPr wrap="square" rtlCol="0">
            <a:spAutoFit/>
          </a:bodyPr>
          <a:lstStyle/>
          <a:p>
            <a:pPr algn="ctr"/>
            <a:r>
              <a:rPr lang="en-GB" dirty="0">
                <a:solidFill>
                  <a:schemeClr val="bg1"/>
                </a:solidFill>
                <a:latin typeface="Times New Roman" panose="02020603050405020304" pitchFamily="18" charset="0"/>
                <a:cs typeface="Times New Roman" panose="02020603050405020304" pitchFamily="18" charset="0"/>
              </a:rPr>
              <a:t>Requirement Identification </a:t>
            </a:r>
          </a:p>
        </p:txBody>
      </p:sp>
      <p:sp>
        <p:nvSpPr>
          <p:cNvPr id="7" name="TextBox 6">
            <a:extLst>
              <a:ext uri="{FF2B5EF4-FFF2-40B4-BE49-F238E27FC236}">
                <a16:creationId xmlns:a16="http://schemas.microsoft.com/office/drawing/2014/main" id="{DB2C81B7-EB49-9601-1674-EC9A9BA6F8A7}"/>
              </a:ext>
            </a:extLst>
          </p:cNvPr>
          <p:cNvSpPr txBox="1"/>
          <p:nvPr/>
        </p:nvSpPr>
        <p:spPr>
          <a:xfrm>
            <a:off x="1813510" y="2685922"/>
            <a:ext cx="1282700" cy="954107"/>
          </a:xfrm>
          <a:prstGeom prst="rect">
            <a:avLst/>
          </a:prstGeom>
          <a:noFill/>
        </p:spPr>
        <p:txBody>
          <a:bodyPr wrap="square" rtlCol="0">
            <a:spAutoFit/>
          </a:bodyPr>
          <a:lstStyle/>
          <a:p>
            <a:pPr algn="ctr"/>
            <a:r>
              <a:rPr lang="en-GB" dirty="0">
                <a:solidFill>
                  <a:schemeClr val="bg1"/>
                </a:solidFill>
                <a:latin typeface="Times New Roman" panose="02020603050405020304" pitchFamily="18" charset="0"/>
                <a:cs typeface="Times New Roman" panose="02020603050405020304" pitchFamily="18" charset="0"/>
              </a:rPr>
              <a:t>Requirement Analysis and planning</a:t>
            </a:r>
          </a:p>
          <a:p>
            <a:endParaRPr lang="en-US" dirty="0"/>
          </a:p>
        </p:txBody>
      </p:sp>
      <p:sp>
        <p:nvSpPr>
          <p:cNvPr id="8" name="TextBox 7">
            <a:extLst>
              <a:ext uri="{FF2B5EF4-FFF2-40B4-BE49-F238E27FC236}">
                <a16:creationId xmlns:a16="http://schemas.microsoft.com/office/drawing/2014/main" id="{89F8AFA8-A988-7B00-C5B8-83064AA0E5BB}"/>
              </a:ext>
            </a:extLst>
          </p:cNvPr>
          <p:cNvSpPr txBox="1"/>
          <p:nvPr/>
        </p:nvSpPr>
        <p:spPr>
          <a:xfrm>
            <a:off x="3235892" y="2895140"/>
            <a:ext cx="1231900" cy="307777"/>
          </a:xfrm>
          <a:prstGeom prst="rect">
            <a:avLst/>
          </a:prstGeom>
          <a:noFill/>
        </p:spPr>
        <p:txBody>
          <a:bodyPr wrap="square" rtlCol="0">
            <a:spAutoFit/>
          </a:bodyPr>
          <a:lstStyle/>
          <a:p>
            <a:pPr algn="ctr"/>
            <a:r>
              <a:rPr lang="en-GB" dirty="0">
                <a:solidFill>
                  <a:schemeClr val="bg1"/>
                </a:solidFill>
                <a:latin typeface="Times New Roman" panose="02020603050405020304" pitchFamily="18" charset="0"/>
                <a:cs typeface="Times New Roman" panose="02020603050405020304" pitchFamily="18" charset="0"/>
              </a:rPr>
              <a:t>System design </a:t>
            </a:r>
          </a:p>
        </p:txBody>
      </p:sp>
      <p:sp>
        <p:nvSpPr>
          <p:cNvPr id="9" name="TextBox 8">
            <a:extLst>
              <a:ext uri="{FF2B5EF4-FFF2-40B4-BE49-F238E27FC236}">
                <a16:creationId xmlns:a16="http://schemas.microsoft.com/office/drawing/2014/main" id="{D807C464-9B99-60F3-FAB1-212997D5061F}"/>
              </a:ext>
            </a:extLst>
          </p:cNvPr>
          <p:cNvSpPr txBox="1"/>
          <p:nvPr/>
        </p:nvSpPr>
        <p:spPr>
          <a:xfrm>
            <a:off x="4594572" y="2685922"/>
            <a:ext cx="1397002" cy="738664"/>
          </a:xfrm>
          <a:prstGeom prst="rect">
            <a:avLst/>
          </a:prstGeom>
          <a:noFill/>
        </p:spPr>
        <p:txBody>
          <a:bodyPr wrap="square" rtlCol="0">
            <a:spAutoFit/>
          </a:bodyPr>
          <a:lstStyle/>
          <a:p>
            <a:pPr algn="ctr"/>
            <a:r>
              <a:rPr lang="en-GB" dirty="0">
                <a:solidFill>
                  <a:schemeClr val="bg1"/>
                </a:solidFill>
                <a:latin typeface="Times New Roman" panose="02020603050405020304" pitchFamily="18" charset="0"/>
                <a:cs typeface="Times New Roman" panose="02020603050405020304" pitchFamily="18" charset="0"/>
              </a:rPr>
              <a:t>Development and implementation </a:t>
            </a:r>
          </a:p>
        </p:txBody>
      </p:sp>
      <p:sp>
        <p:nvSpPr>
          <p:cNvPr id="10" name="TextBox 9">
            <a:extLst>
              <a:ext uri="{FF2B5EF4-FFF2-40B4-BE49-F238E27FC236}">
                <a16:creationId xmlns:a16="http://schemas.microsoft.com/office/drawing/2014/main" id="{B9020A1A-7444-EFE2-8E60-F69BB256EB82}"/>
              </a:ext>
            </a:extLst>
          </p:cNvPr>
          <p:cNvSpPr txBox="1"/>
          <p:nvPr/>
        </p:nvSpPr>
        <p:spPr>
          <a:xfrm>
            <a:off x="6138383" y="2895141"/>
            <a:ext cx="1104900" cy="307777"/>
          </a:xfrm>
          <a:prstGeom prst="rect">
            <a:avLst/>
          </a:prstGeom>
          <a:noFill/>
        </p:spPr>
        <p:txBody>
          <a:bodyPr wrap="square" rtlCol="0">
            <a:spAutoFit/>
          </a:bodyPr>
          <a:lstStyle/>
          <a:p>
            <a:pPr algn="ctr"/>
            <a:r>
              <a:rPr lang="en-GB" dirty="0">
                <a:solidFill>
                  <a:schemeClr val="bg1"/>
                </a:solidFill>
                <a:latin typeface="Times New Roman" panose="02020603050405020304" pitchFamily="18" charset="0"/>
                <a:cs typeface="Times New Roman" panose="02020603050405020304" pitchFamily="18" charset="0"/>
              </a:rPr>
              <a:t>Testing</a:t>
            </a:r>
          </a:p>
        </p:txBody>
      </p:sp>
      <p:sp>
        <p:nvSpPr>
          <p:cNvPr id="11" name="TextBox 10">
            <a:extLst>
              <a:ext uri="{FF2B5EF4-FFF2-40B4-BE49-F238E27FC236}">
                <a16:creationId xmlns:a16="http://schemas.microsoft.com/office/drawing/2014/main" id="{59DC4F08-4673-14FD-F501-41452B610D1B}"/>
              </a:ext>
            </a:extLst>
          </p:cNvPr>
          <p:cNvSpPr txBox="1"/>
          <p:nvPr/>
        </p:nvSpPr>
        <p:spPr>
          <a:xfrm>
            <a:off x="7554983" y="2895142"/>
            <a:ext cx="1104900" cy="307777"/>
          </a:xfrm>
          <a:prstGeom prst="rect">
            <a:avLst/>
          </a:prstGeom>
          <a:noFill/>
        </p:spPr>
        <p:txBody>
          <a:bodyPr wrap="square" rtlCol="0">
            <a:spAutoFit/>
          </a:bodyPr>
          <a:lstStyle/>
          <a:p>
            <a:pPr algn="ctr"/>
            <a:r>
              <a:rPr lang="en-GB" dirty="0">
                <a:solidFill>
                  <a:schemeClr val="bg1"/>
                </a:solidFill>
                <a:latin typeface="Times New Roman" panose="02020603050405020304" pitchFamily="18" charset="0"/>
                <a:cs typeface="Times New Roman" panose="02020603050405020304" pitchFamily="18" charset="0"/>
              </a:rPr>
              <a:t>Deploy</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12" name="Picture 11" descr="A diagram of a program&#10;&#10;AI-generated content may be incorrect.">
            <a:extLst>
              <a:ext uri="{FF2B5EF4-FFF2-40B4-BE49-F238E27FC236}">
                <a16:creationId xmlns:a16="http://schemas.microsoft.com/office/drawing/2014/main" id="{44A1B528-B646-BE8C-949D-7D0866649E69}"/>
              </a:ext>
            </a:extLst>
          </p:cNvPr>
          <p:cNvPicPr>
            <a:picLocks noChangeAspect="1"/>
          </p:cNvPicPr>
          <p:nvPr/>
        </p:nvPicPr>
        <p:blipFill>
          <a:blip r:embed="rId2"/>
          <a:stretch>
            <a:fillRect/>
          </a:stretch>
        </p:blipFill>
        <p:spPr>
          <a:xfrm>
            <a:off x="882829" y="641301"/>
            <a:ext cx="7169925" cy="3860897"/>
          </a:xfrm>
          <a:prstGeom prst="rect">
            <a:avLst/>
          </a:prstGeom>
        </p:spPr>
      </p:pic>
    </p:spTree>
    <p:extLst>
      <p:ext uri="{BB962C8B-B14F-4D97-AF65-F5344CB8AC3E}">
        <p14:creationId xmlns:p14="http://schemas.microsoft.com/office/powerpoint/2010/main" val="2339727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138376"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000" b="1" dirty="0">
                <a:latin typeface="Times New Roman"/>
                <a:ea typeface="Times New Roman"/>
                <a:cs typeface="Times New Roman"/>
                <a:sym typeface="Times New Roman"/>
              </a:rPr>
              <a:t>CONCLUSION</a:t>
            </a:r>
            <a:endParaRPr lang="en-US" sz="2000" b="1" dirty="0">
              <a:latin typeface="Times New Roman"/>
              <a:ea typeface="Times New Roman"/>
              <a:cs typeface="Times New Roman"/>
            </a:endParaRPr>
          </a:p>
        </p:txBody>
      </p:sp>
      <p:sp>
        <p:nvSpPr>
          <p:cNvPr id="120" name="Google Shape;120;p23"/>
          <p:cNvSpPr txBox="1">
            <a:spLocks noGrp="1"/>
          </p:cNvSpPr>
          <p:nvPr>
            <p:ph type="body" idx="1"/>
          </p:nvPr>
        </p:nvSpPr>
        <p:spPr>
          <a:xfrm>
            <a:off x="485850" y="1017734"/>
            <a:ext cx="8172300" cy="3820748"/>
          </a:xfrm>
          <a:prstGeom prst="rect">
            <a:avLst/>
          </a:prstGeom>
        </p:spPr>
        <p:txBody>
          <a:bodyPr spcFirstLastPara="1" wrap="square" lIns="91425" tIns="91425" rIns="91425" bIns="91425" anchor="t" anchorCtr="0">
            <a:noAutofit/>
          </a:bodyPr>
          <a:lstStyle/>
          <a:p>
            <a:pPr marL="114300" lvl="0" indent="0" algn="just" rtl="0">
              <a:lnSpc>
                <a:spcPct val="150000"/>
              </a:lnSpc>
              <a:spcBef>
                <a:spcPts val="0"/>
              </a:spcBef>
              <a:spcAft>
                <a:spcPts val="0"/>
              </a:spcAft>
              <a:buClr>
                <a:srgbClr val="1F1F1F"/>
              </a:buClr>
              <a:buSzPts val="1800"/>
              <a:buNone/>
            </a:pPr>
            <a:r>
              <a:rPr lang="en-GB" sz="1400" dirty="0">
                <a:solidFill>
                  <a:schemeClr val="tx1"/>
                </a:solidFill>
                <a:latin typeface="Times New Roman"/>
                <a:cs typeface="Times New Roman"/>
              </a:rPr>
              <a:t>Phishing attacks are still one of the common cybersecurity threats that use malicious URLs to deceive victims and harvest critical information. </a:t>
            </a:r>
            <a:r>
              <a:rPr lang="en-GB" sz="1400" dirty="0" err="1">
                <a:solidFill>
                  <a:schemeClr val="tx1"/>
                </a:solidFill>
                <a:latin typeface="Times New Roman"/>
                <a:cs typeface="Times New Roman"/>
              </a:rPr>
              <a:t>SentinelUrl</a:t>
            </a:r>
            <a:r>
              <a:rPr lang="en-GB" sz="1400" dirty="0">
                <a:solidFill>
                  <a:schemeClr val="tx1"/>
                </a:solidFill>
                <a:latin typeface="Times New Roman"/>
                <a:cs typeface="Times New Roman"/>
              </a:rPr>
              <a:t> is an effective mechanism that tackles the menace by utilizing static analysis and dynamic sandbox analysis to test the links. Through the observation of the live activities on the website and the information on the domains and threat intelligence, the mechanism increases the accuracy levels of phishing attacks. The pronounced level of the threat alongside the evidence of the captures helps the user make informed decisions. </a:t>
            </a:r>
            <a:r>
              <a:rPr lang="en-GB" sz="1400" dirty="0" err="1">
                <a:solidFill>
                  <a:schemeClr val="tx1"/>
                </a:solidFill>
                <a:latin typeface="Times New Roman"/>
                <a:cs typeface="Times New Roman"/>
              </a:rPr>
              <a:t>SentinelUrl</a:t>
            </a:r>
            <a:r>
              <a:rPr lang="en-GB" sz="1400" dirty="0">
                <a:solidFill>
                  <a:schemeClr val="tx1"/>
                </a:solidFill>
                <a:latin typeface="Times New Roman"/>
                <a:cs typeface="Times New Roman"/>
              </a:rPr>
              <a:t> is an efficient way that has improved cybersecurity.</a:t>
            </a:r>
            <a:endParaRPr lang="en-GB" sz="1400" dirty="0">
              <a:solidFill>
                <a:schemeClr val="tx1"/>
              </a:solidFill>
              <a:highlight>
                <a:srgbClr val="FFFFFF"/>
              </a:highlight>
              <a:latin typeface="Times New Roman"/>
              <a:ea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p:nvPr/>
        </p:nvSpPr>
        <p:spPr>
          <a:xfrm>
            <a:off x="2633700" y="2109000"/>
            <a:ext cx="4300200" cy="92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4800" b="1">
                <a:solidFill>
                  <a:schemeClr val="dk1"/>
                </a:solidFill>
                <a:latin typeface="Times New Roman"/>
                <a:ea typeface="Times New Roman"/>
                <a:cs typeface="Times New Roman"/>
                <a:sym typeface="Times New Roman"/>
              </a:rPr>
              <a:t>THANK YOU</a:t>
            </a:r>
            <a:endParaRPr sz="4800" b="1">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640</TotalTime>
  <Words>873</Words>
  <Application>Microsoft Office PowerPoint</Application>
  <PresentationFormat>On-screen Show (16:9)</PresentationFormat>
  <Paragraphs>83</Paragraphs>
  <Slides>12</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Times New Roman</vt:lpstr>
      <vt:lpstr>Simple Light</vt:lpstr>
      <vt:lpstr>SENTINEL URL</vt:lpstr>
      <vt:lpstr>PowerPoint Presentation</vt:lpstr>
      <vt:lpstr>ABSTRACT</vt:lpstr>
      <vt:lpstr>PROBLEM STATEMENT</vt:lpstr>
      <vt:lpstr>OBJECTIVES</vt:lpstr>
      <vt:lpstr>NEED FOR THE SYSTEM</vt:lpstr>
      <vt:lpstr>PROPOSED SYSTEM</vt:lpstr>
      <vt:lpstr>SOFTWARE REQUIREMENTS</vt:lpstr>
      <vt:lpstr>SYSTEM ARCHITECTURE</vt:lpstr>
      <vt:lpstr>WORK PLAN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URL</dc:title>
  <dc:creator>Jishnu Shaji</dc:creator>
  <cp:lastModifiedBy>Jishnu Shaji</cp:lastModifiedBy>
  <cp:revision>68</cp:revision>
  <dcterms:modified xsi:type="dcterms:W3CDTF">2026-01-10T15:43:23Z</dcterms:modified>
</cp:coreProperties>
</file>